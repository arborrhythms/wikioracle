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f147d5967e4680" /><Relationship Type="http://schemas.openxmlformats.org/officeDocument/2006/relationships/extended-properties" Target="/docProps/app.xml" Id="R558866ae42c94be9" /><Relationship Type="http://schemas.openxmlformats.org/officeDocument/2006/relationships/officeDocument" Target="/ppt/presentation.xml" Id="R0c6aeeee3e1f44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5087910459454b"/>
  </p:sldMasterIdLst>
  <p:notesMasterIdLst>
    <p:notesMasterId xmlns:r="http://schemas.openxmlformats.org/officeDocument/2006/relationships" r:id="Rc6463c2bc8484995"/>
  </p:notesMasterIdLst>
  <p:sldIdLst>
    <p:sldId xmlns:r="http://schemas.openxmlformats.org/officeDocument/2006/relationships" id="256" r:id="Rfab971797c054f16"/>
  </p:sldIdLst>
  <p:sldSz cx="42795825" cy="302799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bbb7bc3d648ed" /><Relationship Type="http://schemas.openxmlformats.org/officeDocument/2006/relationships/slideMaster" Target="/ppt/slideMasters/slideMaster1.xml" Id="Re25087910459454b" /><Relationship Type="http://schemas.openxmlformats.org/officeDocument/2006/relationships/notesMaster" Target="/ppt/notesMasters/notesMaster1.xml" Id="Rc6463c2bc8484995" /><Relationship Type="http://schemas.openxmlformats.org/officeDocument/2006/relationships/presProps" Target="/ppt/presProps.xml" Id="R02a3472eb2154bae" /><Relationship Type="http://schemas.openxmlformats.org/officeDocument/2006/relationships/tableStyles" Target="/ppt/tableStyles.xml" Id="Rce21a001eab842e0" /><Relationship Type="http://schemas.openxmlformats.org/officeDocument/2006/relationships/slide" Target="/ppt/slides/slide1.xml" Id="Rfab971797c054f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57568b10040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8d8ba142d3411c" /><Relationship Type="http://schemas.openxmlformats.org/officeDocument/2006/relationships/notesMaster" Target="/ppt/notesMasters/notesMaster1.xml" Id="R81c53df30224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e043395f9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b2c3c3744a4fc0" /><Relationship Type="http://schemas.openxmlformats.org/officeDocument/2006/relationships/slideLayout" Target="/ppt/slideLayouts/slideLayout1.xml" Id="R14cb34fa719f42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cb34fa719f42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5d384c22d4af5" /><Relationship Type="http://schemas.openxmlformats.org/officeDocument/2006/relationships/image" Target="/ppt/media/image.png" Id="Rc780b2549f9e446e" /><Relationship Type="http://schemas.openxmlformats.org/officeDocument/2006/relationships/image" Target="/ppt/media/image2.png" Id="R6901d6eefb9342d0" /><Relationship Type="http://schemas.openxmlformats.org/officeDocument/2006/relationships/image" Target="/ppt/media/image3.png" Id="R7ee5ba5da06448f7" /><Relationship Type="http://schemas.openxmlformats.org/officeDocument/2006/relationships/notesSlide" Target="/ppt/notesSlides/notesSlide1.xml" Id="Rd4fe64759336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D1187-E1F3-40BA-A8B1-D89C3B6E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"/>
            <a:ext cx="29079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MODELS OF CONSCIOUSNESS 7 - UNIVERSITY OF COPENHAGEN - OCTOBER 12-16,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9C3CC-4A19-4416-9753-DEB358D4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3575" y="5334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Alec Rogers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678D9-5F12-40A8-B67F-49FC7D4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3575" y="8953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alec@arborrhythms.com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3C7CF-F8A1-49F3-A911-E96B15A6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90600"/>
            <a:ext cx="405098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Truth-based Architecture for Grounded Cognition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48446-7A6F-4C72-B76D-BC524F0B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370808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 distributed AI system that separates sources of knowledge into a distributed and secure epistemic layer,</a:t>
            </a:r>
          </a:p>
          <a:p xmlns:a="http://schemas.openxmlformats.org/drawingml/2006/main">
            <a:pPr algn="ctr">
              <a:defRPr sz="36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and operates on that layer using a cognitive grammar in high-dimensional perceptual and conceptual spaces.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23D0F-0861-4928-82BD-373D3F47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1762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0b2549f9e446e"/>
          <a:stretch xmlns:a="http://schemas.openxmlformats.org/drawingml/2006/main"/>
        </p:blipFill>
        <p:spPr>
          <a:xfrm xmlns:a="http://schemas.openxmlformats.org/drawingml/2006/main">
            <a:off x="1257300" y="628650"/>
            <a:ext cx="1533525" cy="1533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F06DF-6179-43A0-9191-7F985391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130587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2B486-8A06-41ED-9D1D-38035236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12601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WikiOracle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DB2BA-9152-4808-B98A-00AEC35F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130587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WikiOracle is a truthful, explainable LLM system designed as a public good; the Wikipedia model applied to artificial intelligence.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Truth is preserved and managed explicitly.</a:t>
            </a:r>
          </a:p>
          <a:p xmlns:a="http://schemas.openxmlformats.org/drawingml/2006/main">
            <a:pPr algn="l">
              <a:def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Data is encrypted and stored publically.</a:t>
            </a:r>
          </a:p>
          <a:p xmlns:a="http://schemas.openxmlformats.org/drawingml/2006/main">
            <a:pPr algn="l">
              <a:def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Data, models, and keys can be shared within a network of trust.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B6237-A0D5-48C9-A982-6007EDA0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Epistemic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A4753-36D4-4571-8DDB-7F40DE8A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086850"/>
            <a:ext cx="1305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Truth objects are explicit records that separate verifiable claims, subjective reports, sources, authorities and model providers.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9274F-12C8-4062-A3F6-D4E5D22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667875"/>
            <a:ext cx="261175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73D81-3B11-4C23-8AD4-27BC71C8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9801225"/>
            <a:ext cx="234505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FC662-19B1-46FA-B2E7-B1D016DE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755" y="9667875"/>
            <a:ext cx="35258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498D5-EE37-432D-B81A-8EBC5A94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9801225"/>
            <a:ext cx="325916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1B66D-7700-485D-8983-4E986D2A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624" y="9667875"/>
            <a:ext cx="692115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F0C2D-1298-4815-AB10-A7EF371E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974" y="9801225"/>
            <a:ext cx="665445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FC83E-BF8D-4F15-811D-04FEBE9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353675"/>
            <a:ext cx="261175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8EF6A-A8A2-47A9-9864-1373A7F7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448925"/>
            <a:ext cx="234505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4A4B0-B41D-474D-96A6-3D088BB3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755" y="10353675"/>
            <a:ext cx="35258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0C9DE-8317-4CBC-A121-C2624BD5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10448925"/>
            <a:ext cx="325916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verifiable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B9B2A-0FCF-40EB-9E0B-C68ECF0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624" y="10353675"/>
            <a:ext cx="692115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A6675-66FA-4CB9-8D97-7935B4B3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974" y="10448925"/>
            <a:ext cx="665445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Grounds reasoning and can train weights.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810AC-D431-470F-9DF7-50F4ADA6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039475"/>
            <a:ext cx="261175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9B48A-BCF5-4C48-8AA0-74FCD0D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134725"/>
            <a:ext cx="234505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feeling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F79FE-A1E0-477C-B52C-E1A1A73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755" y="11039475"/>
            <a:ext cx="35258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C7455-845E-4765-BCEE-F8355EE2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11134725"/>
            <a:ext cx="325916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subjective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1FE60-DE57-42D3-9042-0C2A2188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624" y="11039475"/>
            <a:ext cx="692115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65A8BE-12CE-411C-AFE8-7C7360C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974" y="11134725"/>
            <a:ext cx="665445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Session-only signal; never trains or persists.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E8062-43A6-46DD-BD65-0E7B3892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725275"/>
            <a:ext cx="261175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C4BB59-DBC0-4151-9D21-03D3CCF4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820525"/>
            <a:ext cx="234505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F80F1E-9CA6-43B9-901F-C2FA0FAF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755" y="11725275"/>
            <a:ext cx="35258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09B484-887A-4A3E-9520-7ED98EED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11820525"/>
            <a:ext cx="325916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87EDA4-7400-4452-B486-83D355CC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624" y="11725275"/>
            <a:ext cx="692115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2B8BB2-BA85-4091-8AB9-48D1A17D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974" y="11820525"/>
            <a:ext cx="665445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Grounds claims in external evidence.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DD014A-4F2D-4F16-B9A0-732D67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411075"/>
            <a:ext cx="261175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F65D0D-E6E8-4813-9035-4E33A9C4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06325"/>
            <a:ext cx="234505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84C7AB-0C46-4C8B-9CBC-DD8F019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755" y="12411075"/>
            <a:ext cx="35258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C5AB73-CDB9-4A1C-8944-98E0AE16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12506325"/>
            <a:ext cx="325916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remote TruthSet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1F1E86-8F34-47E8-8C57-32ED7DC5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624" y="12411075"/>
            <a:ext cx="692115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28A394-4528-4541-B199-A8B1A6F5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974" y="12506325"/>
            <a:ext cx="665445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Imports structured truth with scaled trust.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6BBCBF-3A39-4892-AD7D-5B9E2DD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096875"/>
            <a:ext cx="261175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BB3771-5253-4169-8E97-5A82F16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3192125"/>
            <a:ext cx="234505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provider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9A8E63-9EAA-407B-9604-FE8234E3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755" y="13096875"/>
            <a:ext cx="35258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27564E-8587-4823-AACB-90FACB1B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13192125"/>
            <a:ext cx="325916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expert mind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3CACFE-D191-4FFC-ADBF-D7671568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624" y="13096875"/>
            <a:ext cx="692115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A672B1-C5F5-4961-BC1F-82ADAB2C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974" y="13192125"/>
            <a:ext cx="665445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Contributes facts/feelings through voting.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0A6E9B-85F6-49F5-8233-569FF90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57325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Distributed Architecture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BFC681-6FE1-4EAC-A0EC-B5748127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87600"/>
            <a:ext cx="1305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Runtime state stays outside the server and moves between client, encrypted storage and model providers.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2F11ED-FAA9-414A-9D6F-84E57AAE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68625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FF5AA2-78CF-4F9C-BBC7-82FEF63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801975"/>
            <a:ext cx="3389757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Object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D33700-8EEF-4A73-9D16-05B3DE82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457" y="15668625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08EFA7-1EA3-4D02-A9BD-A268B5BF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07" y="15801975"/>
            <a:ext cx="913561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Location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A9AFDB-5D63-461C-88FA-F9B38BD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25875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DE4B75-2DBE-4C60-A814-9B07DCC1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21125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Server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55D8BA-140C-4DF2-B024-BC6A93D9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457" y="16525875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B416E3-DFC8-4B2E-85D1-4EDDEBEE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07" y="16621125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Stateless HTTPS service; state is supplied by the client.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537A0A-B892-42F1-8740-B9B88F6C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83125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6C02AA-0036-4577-A468-C06574F4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478375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C8CB8C-838C-45FC-A844-36AE1CF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457" y="17383125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D4F9D9-8A73-4A89-A34D-3776AA8B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07" y="17478375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Web interface for conversation, truth editing and provider selection.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3B1A92-2A7D-4814-B27D-8219C430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40375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869A3E-AFEB-4718-8898-76E8CB46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335625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Storage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B54D73-0787-4F0B-9BA1-3F8AF379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457" y="18240375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B4CE01-8F12-4714-BA42-B3157470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07" y="18335625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Conversations and truth are stored as AES-256 ZIP files on Dropbox.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866F78-3605-4705-A6EF-40F49D4D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97625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BEAD17-D7BB-4387-BE7A-871BFE46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192875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Models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7A08E1-E5B9-4892-A8EC-2054D6B7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457" y="19097625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0F02E2-6A24-41E6-8221-8D569C93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07" y="19192875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Routes to multiple LLMs, including Basic Model as one provider.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063FC64-D2B8-4586-B3E4-E7B4AC42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Privacy Policy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63F999-0E02-43C2-8AF7-85C0C28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83600"/>
            <a:ext cx="1305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Privacy policy separates persistent public knowledge from optional personal facts; feelings remain session-only.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66DA41-70DC-40C8-8DCF-BB21D81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64625"/>
            <a:ext cx="496233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AD8D04-56C9-41A3-BDE7-8E183FA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897975"/>
            <a:ext cx="469563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Channel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46D572-238B-48AF-9192-B6F61EBB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335" y="21764625"/>
            <a:ext cx="261175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8ED020-36AE-49B7-A53E-963161E5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685" y="21897975"/>
            <a:ext cx="234505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TruthSet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A49D25-E273-4E1C-AF5A-CBBBF94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090" y="21764625"/>
            <a:ext cx="261175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29C504-2139-4E14-95CA-7601DD30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440" y="21897975"/>
            <a:ext cx="234505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Weights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400BB1B-EC8C-44F1-B5C5-58946F0D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845" y="21764625"/>
            <a:ext cx="2872931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E760EB-7B90-4D3E-B6B2-15772BDA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95" y="21897975"/>
            <a:ext cx="2606231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D8456CF-555D-4F8A-9343-F2D8FAB5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0"/>
            <a:ext cx="496233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43CC162-13D2-44C7-BE6D-6D3D0A70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764750"/>
            <a:ext cx="469563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Universal facts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6E17FC-AD8A-4C59-A2BF-79FF5104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335" y="22669500"/>
            <a:ext cx="261175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5B6A435-9A5D-4845-B324-7D031EDE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685" y="22764750"/>
            <a:ext cx="234505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5497233-C7C3-43D3-8565-02AFCDBD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090" y="22669500"/>
            <a:ext cx="261175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AA1706-B197-4767-B854-6CC02E9F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440" y="22764750"/>
            <a:ext cx="234505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693FDA0-91C1-4A23-B118-01510E1E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845" y="22669500"/>
            <a:ext cx="2872931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670B7CF-DCE5-4592-AFCF-2BAF3795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95" y="22764750"/>
            <a:ext cx="2606231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949B59-D927-4E94-8597-51EF0C24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74375"/>
            <a:ext cx="496233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0FA1C1A-7007-4A34-AE4F-26552505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69625"/>
            <a:ext cx="469563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Particular facts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EE906E2-BA1E-47A7-9AAB-69BC4846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335" y="23574375"/>
            <a:ext cx="261175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0D9ADB-53CE-4FEA-9385-67DDAB0B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685" y="23669625"/>
            <a:ext cx="234505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optional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25D4BD-69BB-4A2F-988A-F813169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090" y="23574375"/>
            <a:ext cx="261175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FB8CCCD-E297-4D56-8C46-F4B8EB52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440" y="23669625"/>
            <a:ext cx="234505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DBBD133-A838-4670-A22F-EB915289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845" y="23574375"/>
            <a:ext cx="2872931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2761F3D-B722-43D5-B3B4-29F176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95" y="23669625"/>
            <a:ext cx="2606231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06884B5-74B9-4860-BD3C-B879B7B3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479250"/>
            <a:ext cx="496233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A4B85F0-DD13-42DC-8FAF-8C695314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574500"/>
            <a:ext cx="469563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Feelings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A48EE3A-310A-46E7-8503-8986AD0E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335" y="24479250"/>
            <a:ext cx="261175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4C64994-E190-485E-A04F-A5675658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685" y="24574500"/>
            <a:ext cx="234505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A35CAD9-3B8B-4543-A229-EB632B87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090" y="24479250"/>
            <a:ext cx="261175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FBD5BB7-2228-4E68-8FA3-6A52916F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440" y="24574500"/>
            <a:ext cx="234505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754E3A-5142-4A79-B457-769D507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845" y="24479250"/>
            <a:ext cx="2872931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21BECF-52DF-4E14-9D06-3EBA7BB0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95" y="24574500"/>
            <a:ext cx="2606231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0B06C67-4B52-4F32-ABF7-ABDB1740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3695700"/>
            <a:ext cx="130587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C5F87C-A510-4AF7-88DD-53779141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3810000"/>
            <a:ext cx="12601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Overview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5AE61C-20E5-4118-9202-473E04CD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4933950"/>
            <a:ext cx="13058775" cy="62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Frames machine cognition as an inspectability problem: if artificial systems are discussed as possible subjects or epistemic agents, their truth boundaries and update rules should be available for mathematical scrutiny.</a:t>
            </a:r>
          </a:p>
          <a:p xmlns:a="http://schemas.openxmlformats.org/drawingml/2006/main">
            <a:pPr algn="l">
              <a:def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Separates truth claims from subjective reports and source authority.</a:t>
            </a:r>
          </a:p>
          <a:p xmlns:a="http://schemas.openxmlformats.org/drawingml/2006/main">
            <a:pPr algn="l">
              <a:def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Defines inspectable confidence, certainty and update gates.</a:t>
            </a:r>
          </a:p>
          <a:p xmlns:a="http://schemas.openxmlformats.org/drawingml/2006/main">
            <a:pPr algn="l">
              <a:def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Provides a more humanistic interface to machine cognition.</a:t>
            </a:r>
          </a:p>
          <a:p xmlns:a="http://schemas.openxmlformats.org/drawingml/2006/main">
            <a:pPr algn="l">
              <a:def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Keeps feelings outside the truth lattice and training set.</a:t>
            </a:r>
          </a:p>
          <a:p xmlns:a="http://schemas.openxmlformats.org/drawingml/2006/main">
            <a:pPr algn="l">
              <a:def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Supports multiple frames of reference.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C8E6CAD-FE40-4885-B8FC-E72C9CC4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1095375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LLM comparison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C0AAFEC-E903-47EC-B3D1-8EBFE7D3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11811000"/>
            <a:ext cx="1305877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1d6eefb9342d0"/>
          <a:stretch xmlns:a="http://schemas.openxmlformats.org/drawingml/2006/main"/>
        </p:blipFill>
        <p:spPr>
          <a:xfrm xmlns:a="http://schemas.openxmlformats.org/drawingml/2006/main">
            <a:off x="14869365" y="11906250"/>
            <a:ext cx="13057094" cy="9248775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A2B6A93-BD4D-42BD-B6B8-4E4399C4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2240875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Safety and Interpretability using a Symbolic Firewall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22CF236-F08E-48C2-A9CE-7F0F7040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2755225"/>
            <a:ext cx="1305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symbolic firewall keeps model state typed, addressable and inspectable so updates can be audited.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4B38E60-FB78-4C8B-894B-E401AADC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3336250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103BDCF-D8D9-4D38-AD3C-E62ACBF5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3469600"/>
            <a:ext cx="3389757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Item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3217289-9E38-495D-8B7C-459BFBED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4982" y="23336250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466DF6A-4AA6-4326-9B99-2317C6D2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8332" y="23469600"/>
            <a:ext cx="913561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Why it matters / discussion hook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0DAEC35-FF06-404C-ADE1-58965D5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4193500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AA784BB-F804-4C40-96FF-F0FDA36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4288750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No anonymous state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57674D8-8C7C-4954-9B72-FB93BD3F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4982" y="24193500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48C01CB-0638-4772-A797-5A3AF2F5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8332" y="24288750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Persistent vectors live in addressed codebook rows or STM slots.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836A004-AFB0-4E91-9368-C7F1835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5050750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E431EE8-CCD6-4E21-BFE1-35BD598A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5146000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Typed units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4195F21-19F2-436C-9630-0CE1572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4982" y="25050750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6887F96-5A89-4D71-959F-2B743953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8332" y="25146000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Percepts, concepts, symbols and operators declare roles and valid operations.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B89717B-EA58-466E-A0EC-FC521A3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5908000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ED9E194-829A-44E4-84A0-5890C6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6003250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Auditable mutation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DB7368-6DB0-4760-84AE-860F1B36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4982" y="25908000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D93616F-88CF-44D4-879D-E5D5D11E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8332" y="26003250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Semantic changes should expose deltas, masks, confidence and provenance.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B4136C4-DBB3-4A79-BF70-46E77104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6765250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116ACCB-7EE8-4703-9247-3F4E6936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6860500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Grounding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26ED7B6-F5C2-433D-ABF0-FC8B678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4982" y="26765250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B4E159F-C807-442F-804F-7845B02B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8332" y="26860500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Can a model expose its path from perception to symbol rather than only output text?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40449AF-D263-4CD9-B9EC-C6AD69F9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7622500"/>
            <a:ext cx="3656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5763D3F-265B-4179-93AD-4134B44C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7717750"/>
            <a:ext cx="3389757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Cognition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E431961-97B9-4CF2-9095-36AA736E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4982" y="27622500"/>
            <a:ext cx="940231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336ED10-F8A6-4523-A61E-D36488B9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8332" y="27717750"/>
            <a:ext cx="913561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Do symbolic and syntactic constraints give a better mathematical object for machine minds?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A31D3E4-AB97-4584-9E18-FEC04E6C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3695700"/>
            <a:ext cx="130587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6EF96C8-54FF-491C-90A6-F367BB64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0" y="3810000"/>
            <a:ext cx="12601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BasicModel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9D35257-9690-4D82-938E-4999EC05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4933950"/>
            <a:ext cx="130587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GitHub.com/ArborRhythms/BasicModel develops the symbolic and syntactic cognition model that WikiOracle can host as one LLM provider. The poster treats it as an inspectible counterpoint to black-box transformer behavior.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E5B3B73-04F8-4550-9F25-E219AD16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723900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Basic Model spaces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A9DC8A6-1B12-4680-8DF0-061AD5C5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8096250"/>
            <a:ext cx="13058775" cy="742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5ba5da06448f7"/>
          <a:stretch xmlns:a="http://schemas.openxmlformats.org/drawingml/2006/main"/>
        </p:blipFill>
        <p:spPr>
          <a:xfrm xmlns:a="http://schemas.openxmlformats.org/drawingml/2006/main">
            <a:off x="28594050" y="8255198"/>
            <a:ext cx="13058775" cy="7073503"/>
          </a:xfrm>
          <a:prstGeom xmlns:a="http://schemas.openxmlformats.org/drawingml/2006/main" prst="rect">
            <a:avLst/>
          </a:prstGeom>
        </p:spPr>
      </p:pic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E646F27-CCE8-4607-B793-7F7FE95B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1600200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Principal Computational Components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0CB325F-C066-4BB8-BD75-4DEB43D3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16516350"/>
            <a:ext cx="1305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Basic Model decomposes cognition into interacting computational components rather than a single opaque weight field.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1D488D3-A420-4628-8BB6-9A299DED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17097375"/>
            <a:ext cx="3264694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AE75352-63E2-459D-B157-6A53F505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17230725"/>
            <a:ext cx="299799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Piece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F2F53C1-8488-456F-B62D-DAC18399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744" y="17097375"/>
            <a:ext cx="97940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329A0BA-E5E2-453C-98D4-C73A596C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2094" y="17230725"/>
            <a:ext cx="9527381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Basic Model treatment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90B2524-E264-4C12-9B4B-B14798AE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18087975"/>
            <a:ext cx="3264694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9C0F0F1-F126-46F0-BED6-0754F6C3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18183225"/>
            <a:ext cx="2997994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Mereology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3FE2174-8C97-48E7-8988-B7757CE0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744" y="18087975"/>
            <a:ext cx="97940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73BF4F0-3696-4D49-AFCD-174836EC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2094" y="18183225"/>
            <a:ext cx="9527381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Two towers expose part-percept extents and whole-percept intents instead of leaving structure implicit in weights.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274E1A6-6467-4D25-A804-0EF9E045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19078575"/>
            <a:ext cx="3264694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501E9D0-6D16-41FF-8920-1547AB63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19173825"/>
            <a:ext cx="2997994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Attention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F7AE65A-1331-495F-866B-AC3701A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744" y="19078575"/>
            <a:ext cx="97940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55D3343-D5A5-46D7-8443-88368BB8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2094" y="19173825"/>
            <a:ext cx="9527381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Typed attention ranges over input, STM, LTM, PartSpace, WholeSpace and SymbolSpace.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D187D60-2928-4106-BA89-1409B297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0069175"/>
            <a:ext cx="3264694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411E941-F3B1-4B9E-AECA-F7C3B028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20164425"/>
            <a:ext cx="2997994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Hierarchy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08BFA79-93E9-4CCA-A5A4-53186257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744" y="20069175"/>
            <a:ext cx="97940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8744215-BEFA-4B23-901E-242FE502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2094" y="20164425"/>
            <a:ext cx="9527381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Serial referential lookup and grammar composition shape references after parallel perceptual settling.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DE8A13D-1437-4EA7-BDA8-F4E42F56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1059775"/>
            <a:ext cx="3264694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B5EED26-EF0F-4F26-9EDF-FEDC7DF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21155025"/>
            <a:ext cx="2997994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STM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2759CF0-E3C2-4348-9A8C-8FDA1D17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744" y="21059775"/>
            <a:ext cx="97940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BB84743-322F-46DC-AF21-6039F1FE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2094" y="21155025"/>
            <a:ext cx="9527381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 depth-limited concept-space working set tracks serial or whole-slab sentence state.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3FECD90-A241-4F73-9B6F-BC3BBAAB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2050375"/>
            <a:ext cx="3264694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CCB9144-3625-4953-A769-1EF5B37A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22145625"/>
            <a:ext cx="2997994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LTM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7459D47-54CA-47BF-AC25-69B5C8F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744" y="22050375"/>
            <a:ext cx="979408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861840C-1A54-4D85-ADA9-0BCEEFF7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2094" y="22145625"/>
            <a:ext cx="9527381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End-state chains and stored truths support inter-sentence prediction and recall.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0DB5078-E3C9-4E66-B344-D040530C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3669625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Reasoning within Conceptual Space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1110D24-BBF5-4F93-BD9B-B3CF1A9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4183975"/>
            <a:ext cx="1305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Conceptual Space stores and manipulates truth-bearing structures through explicit mechanisms.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D150522-3F65-479E-A952-162792F3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4765000"/>
            <a:ext cx="3656457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527F324-17C3-4CC4-897B-0271FC1E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24898350"/>
            <a:ext cx="338975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Mechanism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90743BC-E9EC-43FA-B7A7-639136DE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0507" y="24765000"/>
            <a:ext cx="9402318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CEA6A12-9315-465F-9A41-2FD8D62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857" y="24898350"/>
            <a:ext cx="913561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Basic Model content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1A11601-61DF-4BEE-96AD-8F33B89B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5603200"/>
            <a:ext cx="3656457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E9F142C-4B2A-4A48-94B9-2942D22F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25698450"/>
            <a:ext cx="3389757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Truth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F662C1F-3507-4F20-B429-F7D52A5C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0507" y="25603200"/>
            <a:ext cx="9402318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1051923-A8FF-42A2-AFA2-847F074F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857" y="25698450"/>
            <a:ext cx="913561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Degree-of-Truth scaled propositions are stored, queried and checked for consistency.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30E49AF-03D4-425C-A227-8049D70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6441400"/>
            <a:ext cx="3656457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3669128-AE09-4FE3-BF1B-E4E28A33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26536650"/>
            <a:ext cx="3389757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Luminousity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FD3C005-1242-487A-8406-2932CA3C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0507" y="26441400"/>
            <a:ext cx="9402318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A7ADA55-C77B-4CB5-BFC8-A1A5376C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857" y="26536650"/>
            <a:ext cx="913561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Coverage and consonance guide acceptance, derivation and validity of stored truth.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C7E1168-162A-41FA-B139-4BF4B4F5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7279600"/>
            <a:ext cx="3656457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239E993-303B-4050-9F16-100F4CD1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27374850"/>
            <a:ext cx="3389757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Ideas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7933647-1DA9-456C-8356-91B8B50B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0507" y="27279600"/>
            <a:ext cx="9402318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719E79A-62D8-4433-92BA-4483382E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857" y="27374850"/>
            <a:ext cx="913561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ConceptualSpace holds sentence-level working states as ideas in STM.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D3AD51F-A542-427F-8869-B73A3B94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0" y="28117800"/>
            <a:ext cx="3656457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C88986B-5241-4D64-BD53-B9660A5C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0" y="28213050"/>
            <a:ext cx="3389757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Relations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8039BE0-20DD-42A2-9CA1-9EAF615D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0507" y="28117800"/>
            <a:ext cx="9402318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8AFC451-16BE-469E-9CE4-5AD10EE4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857" y="28213050"/>
            <a:ext cx="913561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Concept codebook rows and symbolic graph edges encode part/whole, equality and derived chains.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AEBD2FA-5A25-4B9F-9B32-21EC4C8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94125"/>
            <a:ext cx="405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E06B114-C026-41CA-99B8-68EC9EE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84625"/>
            <a:ext cx="40509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Sources: WikiOracle.org homepage + README.md; WikiOracle doc/*.md + architecture SVG; basicmodel/doc/*.md + diagrams; AMCS MoC7 2026 and MCS pages; selected speaker profiles; arXiv 1907.03223, 2301.11812, 2308.08708.</a:t>
            </a:r>
          </a:p>
        </p:txBody>
      </p:sp>
    </p:spTree>
    <p:extLst>
      <p:ext uri="{BB962C8B-B14F-4D97-AF65-F5344CB8AC3E}">
        <p14:creationId xmlns:p14="http://schemas.microsoft.com/office/powerpoint/2010/main" val="1771677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2026-07-04T15:12:26.4520000Z</dcterms:created>
  <dcterms:modified xsi:type="dcterms:W3CDTF">2026-07-04T15:12:26.4520000Z</dcterms:modified>
</coreProperties>
</file>